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3"/>
  </p:notesMasterIdLst>
  <p:sldIdLst>
    <p:sldId id="272" r:id="rId2"/>
    <p:sldId id="257" r:id="rId3"/>
    <p:sldId id="258" r:id="rId4"/>
    <p:sldId id="261" r:id="rId5"/>
    <p:sldId id="259" r:id="rId6"/>
    <p:sldId id="266" r:id="rId7"/>
    <p:sldId id="267" r:id="rId8"/>
    <p:sldId id="268" r:id="rId9"/>
    <p:sldId id="269" r:id="rId10"/>
    <p:sldId id="271" r:id="rId11"/>
    <p:sldId id="263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8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84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D8410-560A-434A-1F67-71C3F49FD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2B01A-15E1-4CAD-23E3-6DEB3EE5E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26BDA-0304-A4E5-7188-27BBA0738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6142D-0541-4480-0BEB-7590C08FB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21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88C7-F30A-6D63-ACDA-E2993775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83DCC-054E-113D-6EDA-CB1C3C54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3AD27-EE49-E62E-C3D5-5159410A3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F5F73-9273-7835-AA92-148018AA7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55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FEB3-5F10-E2BB-502F-032A9D6D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BACBF-17E0-BC64-AD99-F3229521B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EBC98-B745-1866-D0B4-EF11B1D02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54BB5-95DB-97FC-F7AD-9878E5F20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74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AB21A-10C4-B70D-9377-47E965063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26AAD-2692-C22D-259A-388EAC13D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B5AF8-A066-4200-4258-8B9AB3027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B5B67-10E3-A1CD-7333-7F1EE35C9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27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2E2B-A48B-8356-C0A7-1B948141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EFE26-6E25-215B-829A-95E28C443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94FAE-0B04-4BAB-DBFD-13AA82D9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66BD6-ABEE-5F3C-86F5-57D0B04D2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59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054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5638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43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0976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276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563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2635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0505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564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7450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727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8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1767D8-9C2D-CDE1-F4F5-FCFA185BC8EC}"/>
              </a:ext>
            </a:extLst>
          </p:cNvPr>
          <p:cNvSpPr txBox="1"/>
          <p:nvPr/>
        </p:nvSpPr>
        <p:spPr>
          <a:xfrm>
            <a:off x="5458969" y="2386744"/>
            <a:ext cx="5928358" cy="1645920"/>
          </a:xfrm>
          <a:prstGeom prst="rect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900" cap="all" spc="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Clean </a:t>
            </a:r>
            <a:r>
              <a:rPr lang="en-US" sz="2900" cap="all" spc="200" noProof="1">
                <a:solidFill>
                  <a:srgbClr val="262626"/>
                </a:solidFill>
                <a:latin typeface="+mj-lt"/>
                <a:ea typeface="+mj-ea"/>
                <a:cs typeface="+mj-cs"/>
              </a:rPr>
              <a:t>Arquitecture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900" cap="all" spc="200" noProof="1">
                <a:solidFill>
                  <a:srgbClr val="262626"/>
                </a:solidFill>
                <a:latin typeface="+mj-lt"/>
                <a:ea typeface="+mj-ea"/>
                <a:cs typeface="+mj-cs"/>
              </a:rPr>
              <a:t>Projeto Clube de Corrida</a:t>
            </a:r>
            <a:endParaRPr lang="en-US" sz="2900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Linha de chegada">
            <a:extLst>
              <a:ext uri="{FF2B5EF4-FFF2-40B4-BE49-F238E27FC236}">
                <a16:creationId xmlns:a16="http://schemas.microsoft.com/office/drawing/2014/main" id="{80A4FFB1-D549-2D7D-DE00-F976B48B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02" r="20153"/>
          <a:stretch>
            <a:fillRect/>
          </a:stretch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3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pensar em arquitetura?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falar de Clean Architecture, pense no problema que ela tenta resolver.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82296" cy="4343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32688" y="156362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Projeto bagunçado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2313689"/>
            <a:ext cx="3163824" cy="22306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Tudo misturado no mesmo lugar: tela, regra, acesso ao banco e validações.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Resultado: mexer em uma parte quebra outra.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70832" y="1417320"/>
            <a:ext cx="82296" cy="4343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0" y="156362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Projeto difícil de testar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56762" y="2257460"/>
            <a:ext cx="3166874" cy="28310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Para testar uma regra simples, você precisa subir banco, API ou interface.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Isso atrasa o aprendizado.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10144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010144" y="1417320"/>
            <a:ext cx="82296" cy="4343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11312" y="1563624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Projeto difícil de crescer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57032" y="2257460"/>
            <a:ext cx="3118104" cy="33935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</a:rPr>
              <a:t>Quando o app aumenta, fica complicado trocar tecnologia, organizar pastas e reaproveitar código.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Clean Architecture</a:t>
            </a:r>
            <a:endParaRPr lang="en-US" sz="2400" dirty="0"/>
          </a:p>
        </p:txBody>
      </p:sp>
      <p:sp>
        <p:nvSpPr>
          <p:cNvPr id="24" name="Alternar Processo 23">
            <a:extLst>
              <a:ext uri="{FF2B5EF4-FFF2-40B4-BE49-F238E27FC236}">
                <a16:creationId xmlns:a16="http://schemas.microsoft.com/office/drawing/2014/main" id="{BA5429D7-5AC7-707B-901E-8F613653BB4A}"/>
              </a:ext>
            </a:extLst>
          </p:cNvPr>
          <p:cNvSpPr/>
          <p:nvPr/>
        </p:nvSpPr>
        <p:spPr>
          <a:xfrm>
            <a:off x="1232450" y="1126439"/>
            <a:ext cx="1855305" cy="82163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Presentation</a:t>
            </a:r>
            <a:endParaRPr lang="pt-BR" dirty="0"/>
          </a:p>
        </p:txBody>
      </p:sp>
      <p:sp>
        <p:nvSpPr>
          <p:cNvPr id="25" name="Alternar Processo 24">
            <a:extLst>
              <a:ext uri="{FF2B5EF4-FFF2-40B4-BE49-F238E27FC236}">
                <a16:creationId xmlns:a16="http://schemas.microsoft.com/office/drawing/2014/main" id="{CA14E6F1-B708-E410-01D5-D96EFF2DFFB6}"/>
              </a:ext>
            </a:extLst>
          </p:cNvPr>
          <p:cNvSpPr/>
          <p:nvPr/>
        </p:nvSpPr>
        <p:spPr>
          <a:xfrm>
            <a:off x="1232447" y="2668329"/>
            <a:ext cx="1855305" cy="82163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Application</a:t>
            </a:r>
            <a:endParaRPr lang="pt-BR" dirty="0"/>
          </a:p>
        </p:txBody>
      </p:sp>
      <p:sp>
        <p:nvSpPr>
          <p:cNvPr id="26" name="Alternar Processo 25">
            <a:extLst>
              <a:ext uri="{FF2B5EF4-FFF2-40B4-BE49-F238E27FC236}">
                <a16:creationId xmlns:a16="http://schemas.microsoft.com/office/drawing/2014/main" id="{EFCC5A9F-CEF4-618E-A373-B1F53A363861}"/>
              </a:ext>
            </a:extLst>
          </p:cNvPr>
          <p:cNvSpPr/>
          <p:nvPr/>
        </p:nvSpPr>
        <p:spPr>
          <a:xfrm>
            <a:off x="1232448" y="4328429"/>
            <a:ext cx="1855305" cy="82163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Repository</a:t>
            </a:r>
            <a:endParaRPr lang="pt-BR" dirty="0"/>
          </a:p>
        </p:txBody>
      </p:sp>
      <p:sp>
        <p:nvSpPr>
          <p:cNvPr id="27" name="Alternar Processo 26">
            <a:extLst>
              <a:ext uri="{FF2B5EF4-FFF2-40B4-BE49-F238E27FC236}">
                <a16:creationId xmlns:a16="http://schemas.microsoft.com/office/drawing/2014/main" id="{8534D10E-BE14-C1A5-CE78-2B0BCB359E82}"/>
              </a:ext>
            </a:extLst>
          </p:cNvPr>
          <p:cNvSpPr/>
          <p:nvPr/>
        </p:nvSpPr>
        <p:spPr>
          <a:xfrm>
            <a:off x="3922641" y="4328428"/>
            <a:ext cx="1855305" cy="82163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Domain</a:t>
            </a:r>
          </a:p>
        </p:txBody>
      </p:sp>
      <p:sp>
        <p:nvSpPr>
          <p:cNvPr id="28" name="Alternar Processo 27">
            <a:extLst>
              <a:ext uri="{FF2B5EF4-FFF2-40B4-BE49-F238E27FC236}">
                <a16:creationId xmlns:a16="http://schemas.microsoft.com/office/drawing/2014/main" id="{D927D0B8-F087-59B1-197A-D6A62A34E031}"/>
              </a:ext>
            </a:extLst>
          </p:cNvPr>
          <p:cNvSpPr/>
          <p:nvPr/>
        </p:nvSpPr>
        <p:spPr>
          <a:xfrm>
            <a:off x="3935893" y="2193769"/>
            <a:ext cx="1855305" cy="82163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DTO</a:t>
            </a:r>
          </a:p>
        </p:txBody>
      </p:sp>
      <p:sp>
        <p:nvSpPr>
          <p:cNvPr id="29" name="Alternar Processo 28">
            <a:extLst>
              <a:ext uri="{FF2B5EF4-FFF2-40B4-BE49-F238E27FC236}">
                <a16:creationId xmlns:a16="http://schemas.microsoft.com/office/drawing/2014/main" id="{EA933364-B274-2399-8A5E-9339910C8E8A}"/>
              </a:ext>
            </a:extLst>
          </p:cNvPr>
          <p:cNvSpPr/>
          <p:nvPr/>
        </p:nvSpPr>
        <p:spPr>
          <a:xfrm>
            <a:off x="3935893" y="3153493"/>
            <a:ext cx="1855305" cy="821635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Service</a:t>
            </a:r>
          </a:p>
        </p:txBody>
      </p:sp>
      <p:sp>
        <p:nvSpPr>
          <p:cNvPr id="30" name="Chave Esquerda 29">
            <a:extLst>
              <a:ext uri="{FF2B5EF4-FFF2-40B4-BE49-F238E27FC236}">
                <a16:creationId xmlns:a16="http://schemas.microsoft.com/office/drawing/2014/main" id="{7FD50570-6557-AC99-B51D-35DD369A21A5}"/>
              </a:ext>
            </a:extLst>
          </p:cNvPr>
          <p:cNvSpPr/>
          <p:nvPr/>
        </p:nvSpPr>
        <p:spPr>
          <a:xfrm>
            <a:off x="3381089" y="2448608"/>
            <a:ext cx="382526" cy="1271679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73E284EB-5E4A-51D4-C1AA-68DFA05F5098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flipH="1">
            <a:off x="2160100" y="1948074"/>
            <a:ext cx="3" cy="7202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7562A65-256F-3820-54C8-0C8E3B2C975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2160099" y="3489964"/>
            <a:ext cx="2" cy="8384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1F18486-4AFD-3527-64A3-370D6ADF8952}"/>
              </a:ext>
            </a:extLst>
          </p:cNvPr>
          <p:cNvSpPr txBox="1"/>
          <p:nvPr/>
        </p:nvSpPr>
        <p:spPr>
          <a:xfrm>
            <a:off x="4253947" y="1244985"/>
            <a:ext cx="80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API (Swagger): Onde ficam as ROTAS (POST/GET/DELETE/PATCH/UPDATE)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3971582-58B3-16CB-1C23-4411574678A1}"/>
              </a:ext>
            </a:extLst>
          </p:cNvPr>
          <p:cNvCxnSpPr>
            <a:cxnSpLocks/>
          </p:cNvCxnSpPr>
          <p:nvPr/>
        </p:nvCxnSpPr>
        <p:spPr>
          <a:xfrm flipV="1">
            <a:off x="3101007" y="1444492"/>
            <a:ext cx="10866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00435AD-8746-8BD8-EB2F-414B3CFC3E79}"/>
              </a:ext>
            </a:extLst>
          </p:cNvPr>
          <p:cNvSpPr txBox="1"/>
          <p:nvPr/>
        </p:nvSpPr>
        <p:spPr>
          <a:xfrm>
            <a:off x="4253947" y="1570727"/>
            <a:ext cx="80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en-US" noProof="1"/>
              <a:t>Presentation</a:t>
            </a:r>
            <a:r>
              <a:rPr lang="pt-BR" dirty="0"/>
              <a:t> envia um DTO para o Service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F873D45-F93F-7052-57D5-C621EC1C3A9E}"/>
              </a:ext>
            </a:extLst>
          </p:cNvPr>
          <p:cNvSpPr txBox="1"/>
          <p:nvPr/>
        </p:nvSpPr>
        <p:spPr>
          <a:xfrm>
            <a:off x="5849510" y="2364359"/>
            <a:ext cx="6056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DTO tem os mesmos campos do Domain, com exceção da chave primária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3A9BDF05-895D-C022-B6EE-87DF29EF63A1}"/>
              </a:ext>
            </a:extLst>
          </p:cNvPr>
          <p:cNvSpPr txBox="1"/>
          <p:nvPr/>
        </p:nvSpPr>
        <p:spPr>
          <a:xfrm>
            <a:off x="5849510" y="3194978"/>
            <a:ext cx="49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Onde ficam as Regras de Negócio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B145E80-C1AD-6EDA-2649-F194E04A9EC1}"/>
              </a:ext>
            </a:extLst>
          </p:cNvPr>
          <p:cNvSpPr txBox="1"/>
          <p:nvPr/>
        </p:nvSpPr>
        <p:spPr>
          <a:xfrm>
            <a:off x="5849510" y="3539864"/>
            <a:ext cx="49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 comunica com o </a:t>
            </a:r>
            <a:r>
              <a:rPr lang="pt-BR" dirty="0" err="1"/>
              <a:t>Repository</a:t>
            </a:r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9D8B033-E1AE-D479-B87D-6C3261699196}"/>
              </a:ext>
            </a:extLst>
          </p:cNvPr>
          <p:cNvSpPr txBox="1"/>
          <p:nvPr/>
        </p:nvSpPr>
        <p:spPr>
          <a:xfrm>
            <a:off x="2521671" y="5223217"/>
            <a:ext cx="3473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Métodos para acessar o BD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30BA4CD-0451-4C55-50C7-9FB8E4EE1075}"/>
              </a:ext>
            </a:extLst>
          </p:cNvPr>
          <p:cNvSpPr txBox="1"/>
          <p:nvPr/>
        </p:nvSpPr>
        <p:spPr>
          <a:xfrm>
            <a:off x="5849510" y="4396218"/>
            <a:ext cx="5891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Representa as Entidades: Classes, métodos e regras de domínio ( Validar CPF)</a:t>
            </a:r>
          </a:p>
        </p:txBody>
      </p:sp>
      <p:sp>
        <p:nvSpPr>
          <p:cNvPr id="44" name="Disco Magnético 43">
            <a:extLst>
              <a:ext uri="{FF2B5EF4-FFF2-40B4-BE49-F238E27FC236}">
                <a16:creationId xmlns:a16="http://schemas.microsoft.com/office/drawing/2014/main" id="{3233AFDB-6D4E-583B-5A03-BDC922CE3C6C}"/>
              </a:ext>
            </a:extLst>
          </p:cNvPr>
          <p:cNvSpPr/>
          <p:nvPr/>
        </p:nvSpPr>
        <p:spPr>
          <a:xfrm>
            <a:off x="1942335" y="5635624"/>
            <a:ext cx="1158672" cy="701110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BD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520EF4D-FEB0-7A5C-E913-AFEB35C4409A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2521671" y="5176707"/>
            <a:ext cx="0" cy="458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0AA0AEB1-3FAF-7F00-994E-D86E898F40DD}"/>
              </a:ext>
            </a:extLst>
          </p:cNvPr>
          <p:cNvCxnSpPr>
            <a:cxnSpLocks/>
          </p:cNvCxnSpPr>
          <p:nvPr/>
        </p:nvCxnSpPr>
        <p:spPr>
          <a:xfrm flipH="1">
            <a:off x="3087752" y="4711168"/>
            <a:ext cx="8348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</a:t>
            </a: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o </a:t>
            </a: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pastas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existe um único formato, mas </a:t>
            </a:r>
            <a:r>
              <a:rPr lang="en-US" sz="115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</a:t>
            </a: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</a:t>
            </a: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</a:t>
            </a: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organização </a:t>
            </a:r>
            <a:r>
              <a:rPr lang="en-US" sz="115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inicial</a:t>
            </a: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.</a:t>
            </a:r>
            <a:endParaRPr lang="en-US" sz="11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63E30CD-11D7-9CFD-3C19-8EAB006A6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86" y="1488384"/>
            <a:ext cx="2209524" cy="4834372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961451C-BBAE-6994-ACD6-CED70A30BB39}"/>
              </a:ext>
            </a:extLst>
          </p:cNvPr>
          <p:cNvCxnSpPr/>
          <p:nvPr/>
        </p:nvCxnSpPr>
        <p:spPr>
          <a:xfrm flipH="1">
            <a:off x="6798366" y="5393635"/>
            <a:ext cx="153725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12E24B1-650D-93AD-9F6E-B35E50ED767A}"/>
              </a:ext>
            </a:extLst>
          </p:cNvPr>
          <p:cNvCxnSpPr/>
          <p:nvPr/>
        </p:nvCxnSpPr>
        <p:spPr>
          <a:xfrm flipH="1">
            <a:off x="6758610" y="1716157"/>
            <a:ext cx="153725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0607411-DCA9-1A57-FAF1-C32F182042A2}"/>
              </a:ext>
            </a:extLst>
          </p:cNvPr>
          <p:cNvCxnSpPr/>
          <p:nvPr/>
        </p:nvCxnSpPr>
        <p:spPr>
          <a:xfrm flipH="1">
            <a:off x="6798366" y="6142383"/>
            <a:ext cx="153725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A7CFDEE-153F-FE35-BB75-9B0ABB51206B}"/>
              </a:ext>
            </a:extLst>
          </p:cNvPr>
          <p:cNvSpPr/>
          <p:nvPr/>
        </p:nvSpPr>
        <p:spPr>
          <a:xfrm>
            <a:off x="4549086" y="2319130"/>
            <a:ext cx="1815548" cy="72887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43F3FB8A-A984-D533-F5A2-239259A7DAC9}"/>
              </a:ext>
            </a:extLst>
          </p:cNvPr>
          <p:cNvCxnSpPr/>
          <p:nvPr/>
        </p:nvCxnSpPr>
        <p:spPr>
          <a:xfrm flipH="1">
            <a:off x="6798366" y="3929269"/>
            <a:ext cx="153725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Relembrando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5486400" cy="1947672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320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69972" cy="1947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 sz="3200"/>
          </a:p>
        </p:txBody>
      </p:sp>
      <p:sp>
        <p:nvSpPr>
          <p:cNvPr id="6" name="Text 4"/>
          <p:cNvSpPr/>
          <p:nvPr/>
        </p:nvSpPr>
        <p:spPr>
          <a:xfrm>
            <a:off x="932688" y="1627632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Presentation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0496" y="2103120"/>
            <a:ext cx="5175504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pt-BR" sz="2000" dirty="0"/>
              <a:t>- API (Swagger): Onde ficam as ROTAS (POST/GET/DELETE/PATCH/UPDATE)</a:t>
            </a:r>
          </a:p>
          <a:p>
            <a:endParaRPr lang="pt-BR" sz="2000" dirty="0"/>
          </a:p>
          <a:p>
            <a:r>
              <a:rPr lang="pt-BR" sz="2000" dirty="0"/>
              <a:t>- O </a:t>
            </a:r>
            <a:r>
              <a:rPr lang="en-US" sz="2000" noProof="1"/>
              <a:t>Presentation</a:t>
            </a:r>
            <a:r>
              <a:rPr lang="pt-BR" sz="2000" dirty="0"/>
              <a:t> envia um DTO para o Service</a:t>
            </a:r>
          </a:p>
          <a:p>
            <a:endParaRPr lang="pt-BR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508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3200"/>
          </a:p>
        </p:txBody>
      </p:sp>
      <p:sp>
        <p:nvSpPr>
          <p:cNvPr id="9" name="Shape 7"/>
          <p:cNvSpPr/>
          <p:nvPr/>
        </p:nvSpPr>
        <p:spPr>
          <a:xfrm>
            <a:off x="731520" y="4508920"/>
            <a:ext cx="82296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 sz="3200"/>
          </a:p>
        </p:txBody>
      </p:sp>
      <p:sp>
        <p:nvSpPr>
          <p:cNvPr id="10" name="Text 8"/>
          <p:cNvSpPr/>
          <p:nvPr/>
        </p:nvSpPr>
        <p:spPr>
          <a:xfrm>
            <a:off x="932688" y="4655224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Repository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32688" y="4929544"/>
            <a:ext cx="51755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pt-BR" sz="2000" dirty="0"/>
              <a:t>Métodos para acessar o BD</a:t>
            </a:r>
          </a:p>
        </p:txBody>
      </p:sp>
      <p:sp>
        <p:nvSpPr>
          <p:cNvPr id="16" name="Shape 14"/>
          <p:cNvSpPr/>
          <p:nvPr/>
        </p:nvSpPr>
        <p:spPr>
          <a:xfrm>
            <a:off x="6355080" y="1481327"/>
            <a:ext cx="5029200" cy="1947673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3200"/>
          </a:p>
        </p:txBody>
      </p:sp>
      <p:sp>
        <p:nvSpPr>
          <p:cNvPr id="17" name="Shape 15"/>
          <p:cNvSpPr/>
          <p:nvPr/>
        </p:nvSpPr>
        <p:spPr>
          <a:xfrm>
            <a:off x="6349116" y="1481328"/>
            <a:ext cx="91439" cy="1947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 sz="3200"/>
          </a:p>
        </p:txBody>
      </p:sp>
      <p:sp>
        <p:nvSpPr>
          <p:cNvPr id="18" name="Text 16"/>
          <p:cNvSpPr/>
          <p:nvPr/>
        </p:nvSpPr>
        <p:spPr>
          <a:xfrm>
            <a:off x="6556248" y="1627632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Application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56248" y="2052828"/>
            <a:ext cx="4809744" cy="1710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2000" dirty="0">
                <a:solidFill>
                  <a:srgbClr val="1F2937"/>
                </a:solidFill>
              </a:rPr>
              <a:t>DTO: </a:t>
            </a:r>
            <a:r>
              <a:rPr lang="pt-BR" sz="2000" dirty="0"/>
              <a:t>Mesmos campos do Domain, com exceção da chave primária</a:t>
            </a:r>
          </a:p>
          <a:p>
            <a:r>
              <a:rPr lang="en-US" sz="2000" dirty="0">
                <a:solidFill>
                  <a:srgbClr val="1F2937"/>
                </a:solidFill>
              </a:rPr>
              <a:t> </a:t>
            </a:r>
          </a:p>
          <a:p>
            <a:r>
              <a:rPr lang="en-US" sz="2000" dirty="0">
                <a:solidFill>
                  <a:srgbClr val="1F2937"/>
                </a:solidFill>
              </a:rPr>
              <a:t>SERVICE :</a:t>
            </a:r>
            <a:r>
              <a:rPr lang="pt-BR" sz="2000" dirty="0"/>
              <a:t>Onde ficam as Regras de Negócio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55080" y="451170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3200"/>
          </a:p>
        </p:txBody>
      </p:sp>
      <p:sp>
        <p:nvSpPr>
          <p:cNvPr id="21" name="Shape 19"/>
          <p:cNvSpPr/>
          <p:nvPr/>
        </p:nvSpPr>
        <p:spPr>
          <a:xfrm>
            <a:off x="6355080" y="4511704"/>
            <a:ext cx="82296" cy="1051560"/>
          </a:xfrm>
          <a:prstGeom prst="rect">
            <a:avLst/>
          </a:prstGeom>
          <a:solidFill>
            <a:srgbClr val="19376D"/>
          </a:solidFill>
          <a:ln w="12700">
            <a:solidFill>
              <a:srgbClr val="19376D"/>
            </a:solidFill>
            <a:prstDash val="solid"/>
          </a:ln>
        </p:spPr>
        <p:txBody>
          <a:bodyPr/>
          <a:lstStyle/>
          <a:p>
            <a:endParaRPr lang="pt-BR" sz="3200"/>
          </a:p>
        </p:txBody>
      </p:sp>
      <p:sp>
        <p:nvSpPr>
          <p:cNvPr id="22" name="Text 20"/>
          <p:cNvSpPr/>
          <p:nvPr/>
        </p:nvSpPr>
        <p:spPr>
          <a:xfrm>
            <a:off x="6556248" y="465800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Domain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556248" y="4932328"/>
            <a:ext cx="48097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pt-BR" sz="2000" dirty="0"/>
              <a:t>Representa as Entidades: Classes, métodos e regras de domínio ( Validar CPF)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A51F-9AF6-1166-51BB-E3ED6535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52EA47-9B0D-222C-9BFA-0BE0F8A6D396}"/>
              </a:ext>
            </a:extLst>
          </p:cNvPr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Presentation</a:t>
            </a:r>
            <a:endParaRPr lang="en-US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EED82A-6A0E-AD04-4FC3-609D3E4AD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640" y="1048516"/>
            <a:ext cx="8238720" cy="5496122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819CBB1-C425-B99C-829A-2B70D5EA9CED}"/>
              </a:ext>
            </a:extLst>
          </p:cNvPr>
          <p:cNvCxnSpPr>
            <a:cxnSpLocks/>
          </p:cNvCxnSpPr>
          <p:nvPr/>
        </p:nvCxnSpPr>
        <p:spPr>
          <a:xfrm>
            <a:off x="1391014" y="3719618"/>
            <a:ext cx="175060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31E3AD6-C9A5-76DB-F83F-4EF5FDA24471}"/>
              </a:ext>
            </a:extLst>
          </p:cNvPr>
          <p:cNvCxnSpPr>
            <a:cxnSpLocks/>
          </p:cNvCxnSpPr>
          <p:nvPr/>
        </p:nvCxnSpPr>
        <p:spPr>
          <a:xfrm>
            <a:off x="1095353" y="6276171"/>
            <a:ext cx="175060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79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B9F7-BEA4-3995-F364-A66F5210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C9FDCA-508A-496A-78FD-F0DDDFDA4348}"/>
              </a:ext>
            </a:extLst>
          </p:cNvPr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DTO</a:t>
            </a:r>
            <a:endParaRPr lang="en-US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3001AA-4592-B5C2-2899-0D66308F6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05733"/>
            <a:ext cx="7772400" cy="50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8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81758-D551-4533-79D8-4E5F21FA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00E1B7-B4EF-ADAC-C85E-9EA993D6A770}"/>
              </a:ext>
            </a:extLst>
          </p:cNvPr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Service</a:t>
            </a:r>
            <a:endParaRPr lang="en-US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7EC4AB-E4C2-DB49-BE02-CCED75B5A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59511"/>
            <a:ext cx="7772400" cy="5469062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055FEB1-EF39-1C48-64FB-BB83CE398D4D}"/>
              </a:ext>
            </a:extLst>
          </p:cNvPr>
          <p:cNvCxnSpPr>
            <a:cxnSpLocks/>
          </p:cNvCxnSpPr>
          <p:nvPr/>
        </p:nvCxnSpPr>
        <p:spPr>
          <a:xfrm>
            <a:off x="1576803" y="3357082"/>
            <a:ext cx="175060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D95AC76-20D8-83C5-B72F-E27EEDB7C1D9}"/>
              </a:ext>
            </a:extLst>
          </p:cNvPr>
          <p:cNvCxnSpPr>
            <a:cxnSpLocks/>
          </p:cNvCxnSpPr>
          <p:nvPr/>
        </p:nvCxnSpPr>
        <p:spPr>
          <a:xfrm>
            <a:off x="1576803" y="4346342"/>
            <a:ext cx="175060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3A529AF-5AC0-EBF0-C93F-F1A59D68A996}"/>
              </a:ext>
            </a:extLst>
          </p:cNvPr>
          <p:cNvCxnSpPr>
            <a:cxnSpLocks/>
          </p:cNvCxnSpPr>
          <p:nvPr/>
        </p:nvCxnSpPr>
        <p:spPr>
          <a:xfrm>
            <a:off x="1576803" y="4931969"/>
            <a:ext cx="175060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ED6D317-7823-ADB6-B651-0CEADE96211B}"/>
              </a:ext>
            </a:extLst>
          </p:cNvPr>
          <p:cNvCxnSpPr>
            <a:cxnSpLocks/>
          </p:cNvCxnSpPr>
          <p:nvPr/>
        </p:nvCxnSpPr>
        <p:spPr>
          <a:xfrm>
            <a:off x="1534851" y="6113497"/>
            <a:ext cx="175060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09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C858-7D2A-46F3-CF4F-52130D18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23B62B-BDE7-211C-1116-9C8B1F25E2C7}"/>
              </a:ext>
            </a:extLst>
          </p:cNvPr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Repository</a:t>
            </a:r>
            <a:endParaRPr lang="en-US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FE3587-62BC-39CF-44ED-E882327FF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249" y="954156"/>
            <a:ext cx="5676111" cy="571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7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6E3F2-A2B8-7890-D81E-4826A6F8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3B6711-E0CC-8BD7-D846-3BA9CC29861D}"/>
              </a:ext>
            </a:extLst>
          </p:cNvPr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</a:t>
            </a: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Domain</a:t>
            </a:r>
            <a:endParaRPr lang="en-US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D2CC51-ED4C-9173-E64B-3BDEA365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34" y="850392"/>
            <a:ext cx="6498727" cy="57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3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3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Vantagens para quem está começando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40436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240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82296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978408" y="16550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Mais clareza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1929384"/>
            <a:ext cx="408392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Cada parte do projeto tem uma </a:t>
            </a:r>
            <a:r>
              <a:rPr lang="en-US" sz="1600" dirty="0" err="1">
                <a:solidFill>
                  <a:srgbClr val="1F2937"/>
                </a:solidFill>
              </a:rPr>
              <a:t>função</a:t>
            </a:r>
            <a:r>
              <a:rPr lang="en-US" sz="1600" dirty="0">
                <a:solidFill>
                  <a:srgbClr val="1F2937"/>
                </a:solidFill>
              </a:rPr>
              <a:t> </a:t>
            </a:r>
            <a:r>
              <a:rPr lang="en-US" sz="1600" dirty="0" err="1">
                <a:solidFill>
                  <a:srgbClr val="1F2937"/>
                </a:solidFill>
              </a:rPr>
              <a:t>bem</a:t>
            </a:r>
            <a:r>
              <a:rPr lang="en-US" sz="1600" dirty="0">
                <a:solidFill>
                  <a:srgbClr val="1F2937"/>
                </a:solidFill>
              </a:rPr>
              <a:t> definida.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440436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2400"/>
          </a:p>
        </p:txBody>
      </p:sp>
      <p:sp>
        <p:nvSpPr>
          <p:cNvPr id="9" name="Shape 7"/>
          <p:cNvSpPr/>
          <p:nvPr/>
        </p:nvSpPr>
        <p:spPr>
          <a:xfrm>
            <a:off x="777240" y="3154680"/>
            <a:ext cx="82296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978408" y="330098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Mais testes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8408" y="3575304"/>
            <a:ext cx="408392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Fica mais fácil testar regras sem depender da interface.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2968" y="1508760"/>
            <a:ext cx="440436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2400"/>
          </a:p>
        </p:txBody>
      </p:sp>
      <p:sp>
        <p:nvSpPr>
          <p:cNvPr id="13" name="Shape 11"/>
          <p:cNvSpPr/>
          <p:nvPr/>
        </p:nvSpPr>
        <p:spPr>
          <a:xfrm>
            <a:off x="6242968" y="1508760"/>
            <a:ext cx="8229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6444136" y="16550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Mais manutenção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4136" y="1929384"/>
            <a:ext cx="406483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 projeto cresce com menos confusão.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42968" y="3154680"/>
            <a:ext cx="440436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2400"/>
          </a:p>
        </p:txBody>
      </p:sp>
      <p:sp>
        <p:nvSpPr>
          <p:cNvPr id="17" name="Shape 15"/>
          <p:cNvSpPr/>
          <p:nvPr/>
        </p:nvSpPr>
        <p:spPr>
          <a:xfrm>
            <a:off x="6242968" y="3154680"/>
            <a:ext cx="82296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8" name="Text 16"/>
          <p:cNvSpPr/>
          <p:nvPr/>
        </p:nvSpPr>
        <p:spPr>
          <a:xfrm>
            <a:off x="6444136" y="330098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Mais reaproveitamento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4136" y="3575304"/>
            <a:ext cx="406483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Você preserva o núcleo mesmo trocando tecnologia.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291</TotalTime>
  <Words>349</Words>
  <Application>Microsoft Macintosh PowerPoint</Application>
  <PresentationFormat>Widescreen</PresentationFormat>
  <Paragraphs>68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Gill Sans MT</vt:lpstr>
      <vt:lpstr>Pacote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Architecture para iniciantes</dc:title>
  <dc:subject>Introdução à Clean Architecture</dc:subject>
  <dc:creator>OpenAI</dc:creator>
  <cp:lastModifiedBy>Danielle Menendez</cp:lastModifiedBy>
  <cp:revision>16</cp:revision>
  <dcterms:created xsi:type="dcterms:W3CDTF">2026-03-17T12:35:59Z</dcterms:created>
  <dcterms:modified xsi:type="dcterms:W3CDTF">2026-03-17T21:04:44Z</dcterms:modified>
</cp:coreProperties>
</file>